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7315200" y="0"/>
            <a:ext cx="4873752" cy="6858000"/>
          </a:xfrm>
          <a:prstGeom prst="rtTriangl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89720" y="8686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8440" y="16002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0" y="5669280"/>
            <a:ext cx="548640" cy="5486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💡  INNOVATION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800" b="1" i="0">
                <a:solidFill>
                  <a:srgbClr val="FFFFFF"/>
                </a:solidFill>
              </a:defRPr>
            </a:pPr>
            <a:r>
              <a:t>BackOffice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800" b="1" i="0">
                <a:solidFill>
                  <a:srgbClr val="EC4899"/>
                </a:solidFill>
              </a:defRPr>
            </a:pPr>
            <a:r>
              <a:t>Admin Portal.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C7D2FE"/>
                </a:solidFill>
              </a:defRPr>
            </a:pPr>
            <a:r>
              <a:t>One admin-only portal.  Self-service.  AI inside.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64008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4400">
                <a:solidFill>
                  <a:srgbClr val="FFFFFF"/>
                </a:solidFill>
              </a:defRPr>
            </a:pPr>
            <a:r>
              <a:t>🚀  🤖  📊  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Today's reality 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Admins juggle aging systems and constant IT tickets</a:t>
            </a:r>
          </a:p>
        </p:txBody>
      </p:sp>
      <p:sp>
        <p:nvSpPr>
          <p:cNvPr id="6" name="Rounded Rectangle 5"/>
          <p:cNvSpPr/>
          <p:nvPr/>
        </p:nvSpPr>
        <p:spPr>
          <a:xfrm rot="21240000">
            <a:off x="731520" y="182880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Unifi</a:t>
            </a:r>
          </a:p>
        </p:txBody>
      </p:sp>
      <p:sp>
        <p:nvSpPr>
          <p:cNvPr id="7" name="Rounded Rectangle 6"/>
          <p:cNvSpPr/>
          <p:nvPr/>
        </p:nvSpPr>
        <p:spPr>
          <a:xfrm rot="240000">
            <a:off x="2834640" y="228600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Unification</a:t>
            </a:r>
          </a:p>
        </p:txBody>
      </p:sp>
      <p:sp>
        <p:nvSpPr>
          <p:cNvPr id="8" name="Rounded Rectangle 7"/>
          <p:cNvSpPr/>
          <p:nvPr/>
        </p:nvSpPr>
        <p:spPr>
          <a:xfrm rot="21420000">
            <a:off x="5120640" y="182880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TPA</a:t>
            </a:r>
          </a:p>
        </p:txBody>
      </p:sp>
      <p:sp>
        <p:nvSpPr>
          <p:cNvPr id="9" name="Rounded Rectangle 8"/>
          <p:cNvSpPr/>
          <p:nvPr/>
        </p:nvSpPr>
        <p:spPr>
          <a:xfrm rot="420000">
            <a:off x="7132320" y="237744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Batch Jobs</a:t>
            </a:r>
          </a:p>
        </p:txBody>
      </p:sp>
      <p:sp>
        <p:nvSpPr>
          <p:cNvPr id="10" name="Rounded Rectangle 9"/>
          <p:cNvSpPr/>
          <p:nvPr/>
        </p:nvSpPr>
        <p:spPr>
          <a:xfrm rot="21300000">
            <a:off x="9509760" y="192024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111827"/>
                </a:solidFill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4805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Shared with external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834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</a:defRPr>
            </a:pPr>
            <a:r>
              <a:t>Admin &amp; external in the SAME UI = security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0624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43484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111827"/>
                </a:solidFill>
              </a:defRPr>
            </a:pPr>
            <a:r>
              <a:t>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4805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IT-ticket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9834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</a:defRPr>
            </a:pPr>
            <a:r>
              <a:t>Program setup, operator setup, data fix → wait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20624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43484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111827"/>
                </a:solidFill>
              </a:defRPr>
            </a:pPr>
            <a:r>
              <a:t>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4805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5+ systems to juggle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8348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</a:defRPr>
            </a:pPr>
            <a:r>
              <a:t>Each with its own login, UI and quirks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Tomorrow: one front door 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One admin-only portal · every system, one screen</a:t>
            </a:r>
          </a:p>
        </p:txBody>
      </p:sp>
      <p:sp>
        <p:nvSpPr>
          <p:cNvPr id="6" name="Oval 5"/>
          <p:cNvSpPr/>
          <p:nvPr/>
        </p:nvSpPr>
        <p:spPr>
          <a:xfrm>
            <a:off x="4816144" y="2560320"/>
            <a:ext cx="2560320" cy="256032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BackOffice</a:t>
            </a:r>
            <a:br/>
            <a:r>
              <a:t>Admin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3344" y="96012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Unifi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6304" y="1280160"/>
            <a:ext cx="0" cy="2560320"/>
          </a:xfrm>
          <a:prstGeom prst="line">
            <a:avLst/>
          </a:prstGeom>
          <a:ln w="254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08353" y="2729258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Unification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6304" y="3049298"/>
            <a:ext cx="2435009" cy="791182"/>
          </a:xfrm>
          <a:prstGeom prst="line">
            <a:avLst/>
          </a:prstGeom>
          <a:ln w="254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78262" y="5591782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TPA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304" y="3840480"/>
            <a:ext cx="1504918" cy="2071342"/>
          </a:xfrm>
          <a:prstGeom prst="line">
            <a:avLst/>
          </a:prstGeom>
          <a:ln w="254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68426" y="5591782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Batch Jobs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91386" y="3840480"/>
            <a:ext cx="1504918" cy="2071342"/>
          </a:xfrm>
          <a:prstGeom prst="line">
            <a:avLst/>
          </a:prstGeom>
          <a:ln w="254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8335" y="2729258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3661295" y="3049298"/>
            <a:ext cx="2435009" cy="791182"/>
          </a:xfrm>
          <a:prstGeom prst="line">
            <a:avLst/>
          </a:prstGeom>
          <a:ln w="254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63927" y="5806440"/>
            <a:ext cx="2377440" cy="5943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🛡   Secure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7127" y="5806440"/>
            <a:ext cx="2377440" cy="5943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  Self-service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0327" y="5806440"/>
            <a:ext cx="2377440" cy="5943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  Unified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Why now? 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Three forces line up at the same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18288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2287" y="1828800"/>
            <a:ext cx="3566160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205740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40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4747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111827"/>
                </a:solidFill>
              </a:defRPr>
            </a:pPr>
            <a: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420624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Collapse multi-system workflows.</a:t>
            </a:r>
          </a:p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Kill the IT-ticket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18288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2767" y="1828800"/>
            <a:ext cx="356616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2767" y="205740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400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767" y="34747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111827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420624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Admin tooling, finally separated</a:t>
            </a:r>
          </a:p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from external-facing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247" y="18288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3247" y="1828800"/>
            <a:ext cx="3566160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3247" y="205740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40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34747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111827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7567" y="420624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LLMs are good enough now to act</a:t>
            </a:r>
          </a:p>
          <a:p>
            <a:pPr algn="ctr">
              <a:defRPr sz="1400" b="0" i="0">
                <a:solidFill>
                  <a:srgbClr val="6B7280"/>
                </a:solidFill>
              </a:defRPr>
            </a:pPr>
            <a:r>
              <a:t>as a real co-pilot for admins.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What is it? 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A modern, admin-only web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607" y="182880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6647" y="2286000"/>
            <a:ext cx="1005840" cy="10058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647" y="2286000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807" y="22402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11827"/>
                </a:solidFill>
              </a:defRPr>
            </a:pPr>
            <a:r>
              <a:t>Web-based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807" y="278892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</a:defRPr>
            </a:pPr>
            <a:r>
              <a:t>No installs. Any laptop. Always up to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82880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3047" y="2286000"/>
            <a:ext cx="1005840" cy="10058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3047" y="2286000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207" y="22402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11827"/>
                </a:solidFill>
              </a:defRPr>
            </a:pPr>
            <a:r>
              <a:t>Microsoft sign-in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207" y="278892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</a:defRPr>
            </a:pPr>
            <a:r>
              <a:t>Single sign-on with Entra ID — only admins.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607" y="402336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6647" y="4480560"/>
            <a:ext cx="1005840" cy="10058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647" y="4480560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6807" y="44348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11827"/>
                </a:solidFill>
              </a:defRPr>
            </a:pPr>
            <a:r>
              <a:t>Live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6807" y="498348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</a:defRPr>
            </a:pPr>
            <a:r>
              <a:t>Real-time pulse across every connected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02336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53047" y="4480560"/>
            <a:ext cx="1005840" cy="10058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3047" y="4480560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3207" y="44348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11827"/>
                </a:solidFill>
              </a:defRPr>
            </a:pPr>
            <a:r>
              <a:t>Search → drill →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3207" y="498348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</a:defRPr>
            </a:pPr>
            <a:r>
              <a:t>Same pattern in every module. Learn one, know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A better way to work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Routine work moves from IT tickets into the admins' own hands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6B7280"/>
                </a:solidFill>
              </a:defRPr>
            </a:pPr>
            <a:r>
              <a:t>TODAY  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Slow, clunky, aging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290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Shared with external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690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Every setup task → IT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Days of waiting for a data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492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Jump across 5+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82880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312E81"/>
                </a:solidFill>
              </a:defRPr>
            </a:pPr>
            <a:r>
              <a:t>WITH THE PORTAL  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7432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88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11827"/>
                </a:solidFill>
              </a:defRPr>
            </a:pPr>
            <a:r>
              <a:t>Clean, modern, admin-only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4290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11827"/>
                </a:solidFill>
              </a:defRPr>
            </a:pPr>
            <a:r>
              <a:t>Separate from any external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02336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0690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11827"/>
                </a:solidFill>
              </a:defRPr>
            </a:pPr>
            <a:r>
              <a:t>Self-service for routine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66344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091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11827"/>
                </a:solidFill>
              </a:defRPr>
            </a:pPr>
            <a:r>
              <a:t>Minutes, not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0352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3492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11827"/>
                </a:solidFill>
              </a:defRPr>
            </a:pPr>
            <a:r>
              <a:t>One sidebar — every system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532120" y="3657600"/>
            <a:ext cx="1097280" cy="6400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Same job, two very different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6B7280"/>
                </a:solidFill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432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337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337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Batch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31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20640"/>
            <a:ext cx="3840480" cy="5943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🎟  IT ticket  →  wait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82880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574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312E81"/>
                </a:solidFill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017520"/>
            <a:ext cx="3840480" cy="10972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BackOffice Admin 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572000"/>
            <a:ext cx="115824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  Self-service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4880" y="4572000"/>
            <a:ext cx="115824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6000" y="4572000"/>
            <a:ext cx="115824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🛡  Secure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534924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😊  Happy admins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32120" y="3657600"/>
            <a:ext cx="1097280" cy="6400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Real-time pulse 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Six live counters from Unifi · Unification preview · more coming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18745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9467" y="21945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467" y="21945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8187" y="22402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Dealers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8187" y="2651759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t>3,581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18745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4227" y="21945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4227" y="21945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2947" y="22402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2947" y="2651759"/>
            <a:ext cx="19659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8084667" y="18745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58987" y="21945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8987" y="21945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707" y="22402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7707" y="2651759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t>185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147" y="37033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9467" y="40233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467" y="40233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8187" y="40690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8187" y="4480559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t>812,969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9907" y="37033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64227" y="40233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4227" y="40233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2947" y="40690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2947" y="4480559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t>873,325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4667" y="3703319"/>
            <a:ext cx="36118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58987" y="4023359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58987" y="4023359"/>
            <a:ext cx="100584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7707" y="4069079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</a:defRPr>
            </a:pPr>
            <a:r>
              <a:t>Vehicles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7707" y="4480559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</a:defRPr>
            </a:pPr>
            <a:r>
              <a:t>812,884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5216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🔴  Live · auto-refresh · activity pulses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58521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🔸  Unification preview lane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58521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➕  TPA · Batches · Payments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One sidebar.  Everything.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Live now and on the runway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182880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5167" y="2103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 LIVE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83464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967" y="28803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Dealers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33756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0967" y="33832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84048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0967" y="38862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34340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0967" y="43891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Cancellations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84632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0967" y="48920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Live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607" y="534924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0967" y="53949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t>AI 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82880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07327" y="21031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🚧  COMING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767" y="283464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3127" y="28803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Statements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8767" y="333756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3127" y="33832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TPA  ·  Batch Jobs  · 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8767" y="384048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3127" y="38862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Program Setup  ·  Operator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767" y="434340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3127" y="43891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Roles &amp; Permissions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8767" y="484632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3127" y="48920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Data Tools (upload · fix · export)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8767" y="534924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3127" y="53949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Reports &amp; Audit  · 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AI co-pilot 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Ask in plain language · the assistant answers, navigates and 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5852160" cy="6400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Find dealers in Quebec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585216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400">
                <a:solidFill>
                  <a:srgbClr val="111827"/>
                </a:solidFill>
              </a:defRPr>
            </a:pPr>
            <a:r>
              <a:t>Found 42 dealers. Opening the list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474720"/>
            <a:ext cx="5852160" cy="6400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Can contract C-88421 be cancelled?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85216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400">
                <a:solidFill>
                  <a:srgbClr val="111827"/>
                </a:solidFill>
              </a:defRPr>
            </a:pPr>
            <a:r>
              <a:t>✅  Yes. Estimated refund: $1,247.85. Start cancellation?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5120640"/>
            <a:ext cx="5852160" cy="6400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Set up a new program from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943600"/>
            <a:ext cx="585216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400">
                <a:solidFill>
                  <a:srgbClr val="111827"/>
                </a:solidFill>
              </a:defRPr>
            </a:pPr>
            <a:r>
              <a:t>Opening Program Setup with the template pre-filled.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943600"/>
            <a:ext cx="54864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80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828800"/>
            <a:ext cx="3108960" cy="4206240"/>
          </a:xfrm>
          <a:prstGeom prst="roundRect">
            <a:avLst>
              <a:gd name="adj" fmla="val 6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057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432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Find anything,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7472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5204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Answers, not menus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20624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519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Kicks off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93776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2200">
                <a:solidFill>
                  <a:srgbClr val="111827"/>
                </a:solidFill>
              </a:defRPr>
            </a:pPr>
            <a:r>
              <a:t>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9834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No more IT-ticket 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Built with admins, not for them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Feedback baked into the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15287" y="2057400"/>
            <a:ext cx="1280160" cy="12801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219456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611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11827"/>
                </a:solidFill>
              </a:defRPr>
            </a:pPr>
            <a:r>
              <a:t>Report a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41605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Rich-text · screenshots · severity</a:t>
            </a:r>
          </a:p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straight into our backlog.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55767" y="2057400"/>
            <a:ext cx="1280160" cy="128016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2767" y="219456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767" y="3611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11827"/>
                </a:solidFill>
              </a:defRPr>
            </a:pPr>
            <a:r>
              <a:t>Request a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41605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Pitch new capabilities with</a:t>
            </a:r>
          </a:p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context and priority.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247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96247" y="2057400"/>
            <a:ext cx="1280160" cy="1280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3247" y="2194560"/>
            <a:ext cx="3566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3611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11827"/>
                </a:solidFill>
              </a:defRPr>
            </a:pPr>
            <a:r>
              <a:t>Ask for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7567" y="41605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Short-form questions answered</a:t>
            </a:r>
          </a:p>
          <a:p>
            <a:pPr algn="ctr">
              <a:defRPr sz="1300" b="0" i="0">
                <a:solidFill>
                  <a:srgbClr val="6B7280"/>
                </a:solidFill>
              </a:defRPr>
            </a:pPr>
            <a:r>
              <a:t>in-thread by the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48640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🔁   We listen → we ship → we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Wins for the admin team 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Direction of travel — what we expect to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687" y="201168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3687" y="2194560"/>
            <a:ext cx="219456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5200">
                <a:solidFill>
                  <a:srgbClr val="22C55E"/>
                </a:solidFill>
              </a:defRPr>
            </a:pPr>
            <a:r>
              <a:t>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333756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388619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</a:defRPr>
            </a:pPr>
            <a:r>
              <a:t>Security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1127" y="201168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1127" y="2194560"/>
            <a:ext cx="219456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5200">
                <a:solidFill>
                  <a:srgbClr val="22C55E"/>
                </a:solidFill>
              </a:defRPr>
            </a:pPr>
            <a:r>
              <a:t>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8327" y="333756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287" y="388619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</a:defRPr>
            </a:pPr>
            <a:r>
              <a:t>IT tickets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201168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8567" y="2194560"/>
            <a:ext cx="219456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5200">
                <a:solidFill>
                  <a:srgbClr val="22C55E"/>
                </a:solidFill>
              </a:defRPr>
            </a:pPr>
            <a:r>
              <a:t>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5767" y="333756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5727" y="388619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</a:defRPr>
            </a:pPr>
            <a:r>
              <a:t>Onboarding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201168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6007" y="2194560"/>
            <a:ext cx="219456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5200">
                <a:solidFill>
                  <a:srgbClr val="22C55E"/>
                </a:solidFill>
              </a:defRPr>
            </a:pPr>
            <a:r>
              <a:t>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3207" y="333756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88619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</a:defRPr>
            </a:pPr>
            <a:r>
              <a:t>Operational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447" y="2011680"/>
            <a:ext cx="21945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53447" y="2194560"/>
            <a:ext cx="219456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5200">
                <a:solidFill>
                  <a:srgbClr val="EC4899"/>
                </a:solidFill>
              </a:defRPr>
            </a:pPr>
            <a:r>
              <a:t>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0647" y="333756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0607" y="3886199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</a:defRPr>
            </a:pPr>
            <a:r>
              <a:t>Admin happiness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212080"/>
            <a:ext cx="6675120" cy="5943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Less waiting.  Less back-and-forth.  More work getting done.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Roadmap 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Now · Next ·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182880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5127" y="1828800"/>
            <a:ext cx="36576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127" y="20116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✅  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0175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Live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5204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Dealer Servicing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40233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AI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452628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In-product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047" y="182880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7047" y="1828800"/>
            <a:ext cx="36576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7047" y="20116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🚧  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30175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Program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35204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Operator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40233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Roles &amp; 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527" y="452628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Data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527" y="50292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TPA · Batch · 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8967" y="182880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8967" y="1828800"/>
            <a:ext cx="36576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8967" y="20116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🔮  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0447" y="30175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Unification cut-over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0447" y="35204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Deeper cross-system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0447" y="40233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11827"/>
                </a:solidFill>
              </a:defRPr>
            </a:pPr>
            <a:r>
              <a:t>·  In-app documentation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47007" y="3657600"/>
            <a:ext cx="365760" cy="41148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7878927" y="3657600"/>
            <a:ext cx="365760" cy="411480"/>
          </a:xfrm>
          <a:prstGeom prst="rightArrow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12E81"/>
                </a:solidFill>
              </a:defRPr>
            </a:pPr>
            <a:r>
              <a:t>Demo time 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7280"/>
                </a:solidFill>
              </a:defRPr>
            </a:pPr>
            <a:r>
              <a:t>A guided 3-minute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23747" y="22402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747" y="233172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347" y="224028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147" y="30632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9907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18507" y="224028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8507" y="233172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3107" y="224028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2907" y="30632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4667" y="20116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13267" y="224028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3267" y="233172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7867" y="224028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7667" y="30632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Dealers → Map → Drill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147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3747" y="434340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3747" y="443484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8347" y="434340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147" y="5166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Contract → Cancellation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9907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18507" y="434340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18507" y="443484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3107" y="434340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2907" y="5166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AI: "find dealers in Quebec"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4667" y="41148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13267" y="434340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13267" y="443484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7867" y="434340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3200">
                <a:solidFill>
                  <a:srgbClr val="111827"/>
                </a:solidFill>
              </a:defRPr>
            </a:pPr>
            <a:r>
              <a:t>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7667" y="5166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</a:defRPr>
            </a:pPr>
            <a:r>
              <a:t>Request a Feature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6126480"/>
            <a:ext cx="6675120" cy="502920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app · screenshots ready as a safety 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</a:defRPr>
            </a:pPr>
            <a:r>
              <a:t>BackOffice Admin Portal  · 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457200"/>
            <a:ext cx="1280160" cy="1280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5486400"/>
            <a:ext cx="731520" cy="7315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12680" y="5440680"/>
            <a:ext cx="1005840" cy="100584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</a:defRPr>
            </a:pPr>
            <a:r>
              <a:t>Thank you 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 i="0">
                <a:solidFill>
                  <a:srgbClr val="C7D2FE"/>
                </a:solidFill>
              </a:defRPr>
            </a:pPr>
            <a:r>
              <a:t>Admin-only.  Secure.  Self-service.  AI inside.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50292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Questions?  →  Let's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884</Words>
  <Application>Microsoft Office PowerPoint</Application>
  <PresentationFormat>Widescreen</PresentationFormat>
  <Paragraphs>273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Tao, Dongwei</cp:lastModifiedBy>
  <cp:revision>2</cp:revision>
  <dcterms:created xsi:type="dcterms:W3CDTF">2013-01-27T09:14:16Z</dcterms:created>
  <dcterms:modified xsi:type="dcterms:W3CDTF">2026-06-26T14:35:44Z</dcterms:modified>
  <cp:category/>
</cp:coreProperties>
</file>